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-532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D2D5E"/>
                </a:solidFill>
                <a:latin typeface="Segoe UI"/>
              </a:defRPr>
            </a:pPr>
            <a:r>
              <a:rPr dirty="0"/>
              <a:t>TELEPHONY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5B4CDB"/>
                </a:solidFill>
                <a:latin typeface="Segoe UI"/>
              </a:defRPr>
            </a:pPr>
            <a:r>
              <a:t>Online Sanity Testing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88"/>
                </a:solidFill>
                <a:latin typeface="Segoe UI"/>
              </a:defRPr>
            </a:pPr>
            <a:r>
              <a:t>A modern web-based tool for remote telephony sanity testing — replacing heavyweight</a:t>
            </a:r>
            <a:br/>
            <a:r>
              <a:t>Remote PC sessions with a lightweight, multi-user, real-time browser experience.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5943600"/>
            <a:ext cx="12188952" cy="914400"/>
          </a:xfrm>
          <a:prstGeom prst="roundRect">
            <a:avLst/>
          </a:prstGeom>
          <a:solidFill>
            <a:srgbClr val="F0F1F6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88"/>
                </a:solidFill>
                <a:latin typeface="Segoe UI"/>
              </a:defRPr>
            </a:pPr>
            <a:r>
              <a:t>LG Electronics  |  Connected Service 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080760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666688"/>
                </a:solidFill>
                <a:latin typeface="Segoe UI"/>
              </a:defRPr>
            </a:pPr>
            <a:r>
              <a:rPr lang="en-IN" dirty="0" smtClean="0"/>
              <a:t>Nitish Kumar</a:t>
            </a:r>
            <a:r>
              <a:rPr dirty="0" smtClean="0"/>
              <a:t>  </a:t>
            </a:r>
            <a:r>
              <a:rPr dirty="0"/>
              <a:t>| </a:t>
            </a:r>
            <a:r>
              <a:rPr lang="en-IN" dirty="0" smtClean="0"/>
              <a:t>Release version</a:t>
            </a:r>
            <a:r>
              <a:rPr dirty="0" smtClean="0"/>
              <a:t> </a:t>
            </a:r>
            <a:r>
              <a:rPr dirty="0"/>
              <a:t>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THE PROBLEM  —  Remote PC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39" y="914399"/>
            <a:ext cx="7686675" cy="45719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303520" cy="502920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12F2F"/>
                </a:solidFill>
                <a:latin typeface="Segoe UI"/>
              </a:defRPr>
            </a:pPr>
            <a:r>
              <a:t>Remote PC  (Current Method)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Only ONE user can connect at a time (exclusive session)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Requires full desktop streaming — high bandwidth needed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Slow &amp; laggy UI — screen refresh delays up to 2-3 seconds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If connection drops, session is lost entirely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parallel testing — team waits for one person to finish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Device physical access required to troubleshoot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automated regression — everything is manual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DLT logs require separate setup on each PC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real-time device status dashboard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test history / export capability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IP conflicts when multiple users try to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50292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A8F4F"/>
                </a:solidFill>
                <a:latin typeface="Segoe UI"/>
              </a:defRPr>
            </a:pPr>
            <a:r>
              <a:rPr lang="en-IN" dirty="0" smtClean="0"/>
              <a:t>Our Solution (</a:t>
            </a:r>
            <a:r>
              <a:rPr dirty="0" smtClean="0"/>
              <a:t>Telephony </a:t>
            </a:r>
            <a:r>
              <a:rPr lang="en-IN" dirty="0" smtClean="0"/>
              <a:t>Automation)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Multi-user access — unlimited tabs, zero conflicts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Lightweight browser UI — no screen streaming needed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Instant command execution — sub-second response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Session persists even if browser tab is refreshed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Parallel testing — team works simultaneously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Remote device access via ADB over network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Built-in automated regression with CSV export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DLT bridge auto-configures per user session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Live device dashboard (IMEI, SIM, Radio, Region)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Full test history with PASS/FAIL export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Per-user isolation — no IP or port conflicts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rPr lang="en-IN" dirty="0" smtClean="0"/>
              <a:t>Dashboard: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80" y="1156213"/>
            <a:ext cx="12070127" cy="55074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67610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97480" cy="23774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365760" cy="365760"/>
          </a:xfrm>
          <a:prstGeom prst="roundRect">
            <a:avLst/>
          </a:prstGeom>
          <a:solidFill>
            <a:srgbClr val="0096C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Live Device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Real-time status bar showing IMEI, SIM State,</a:t>
            </a:r>
            <a:br/>
            <a:r>
              <a:t>Service State, Radio State, Region, SW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188720"/>
            <a:ext cx="2697480" cy="23774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B8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47288" y="1298448"/>
            <a:ext cx="365760" cy="365760"/>
          </a:xfrm>
          <a:prstGeom prst="roundRect">
            <a:avLst/>
          </a:prstGeom>
          <a:solidFill>
            <a:srgbClr val="B886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4728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One-Click Commands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Execute 50+ telephony commands with pass/fail</a:t>
            </a:r>
            <a:br/>
            <a:r>
              <a:t>validation using pattern matching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88720"/>
            <a:ext cx="2697480" cy="23774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27648" y="1298448"/>
            <a:ext cx="365760" cy="365760"/>
          </a:xfrm>
          <a:prstGeom prst="roundRect">
            <a:avLst/>
          </a:prstGeom>
          <a:solidFill>
            <a:srgbClr val="0A8F4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2764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Automated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Configure test sequences, set iterations, pause/</a:t>
            </a:r>
            <a:br/>
            <a:r>
              <a:t>resume, and export CSV reports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188720"/>
            <a:ext cx="2697480" cy="237744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208008" y="1298448"/>
            <a:ext cx="365760" cy="365760"/>
          </a:xfrm>
          <a:prstGeom prst="roundRect">
            <a:avLst/>
          </a:prstGeom>
          <a:solidFill>
            <a:srgbClr val="5B4CD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0800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DLT Bridge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Auto-configures TCP proxy per user for DLT log</a:t>
            </a:r>
            <a:br/>
            <a:r>
              <a:t>forwarding — no manual setup needed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840480"/>
            <a:ext cx="2697480" cy="23774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66928" y="3950208"/>
            <a:ext cx="365760" cy="365760"/>
          </a:xfrm>
          <a:prstGeom prst="roundRect">
            <a:avLst/>
          </a:prstGeom>
          <a:solidFill>
            <a:srgbClr val="E67E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Multi-User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Each user gets unique client ID, isolated config,</a:t>
            </a:r>
            <a:br/>
            <a:r>
              <a:t>separate DLT ports — zero conflicts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97480" cy="237744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47288" y="3950208"/>
            <a:ext cx="365760" cy="365760"/>
          </a:xfrm>
          <a:prstGeom prst="roundRect">
            <a:avLst/>
          </a:prstGeom>
          <a:solidFill>
            <a:srgbClr val="D12F2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4728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Global Notifications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Real-time popups for ADB changes, IMEI writes,</a:t>
            </a:r>
            <a:br/>
            <a:r>
              <a:t>and system events across all users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840480"/>
            <a:ext cx="2697480" cy="23774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327648" y="3950208"/>
            <a:ext cx="365760" cy="365760"/>
          </a:xfrm>
          <a:prstGeom prst="roundRect">
            <a:avLst/>
          </a:prstGeom>
          <a:solidFill>
            <a:srgbClr val="0096C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2764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Multi-Model 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Toyota, JLR, BMW WAVE LOW/HIGH with auto-</a:t>
            </a:r>
            <a:br/>
            <a:r>
              <a:t>detection based on device software version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98280" y="3840480"/>
            <a:ext cx="2697480" cy="23774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B8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208008" y="3950208"/>
            <a:ext cx="365760" cy="365760"/>
          </a:xfrm>
          <a:prstGeom prst="roundRect">
            <a:avLst/>
          </a:prstGeom>
          <a:solidFill>
            <a:srgbClr val="B886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0800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Admin Panel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Add/remove models, commands, categories</a:t>
            </a:r>
            <a:br/>
            <a:r>
              <a:t>dynamically without code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657600" cy="51206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657600" cy="548640"/>
          </a:xfrm>
          <a:prstGeom prst="roundRect">
            <a:avLst/>
          </a:prstGeom>
          <a:solidFill>
            <a:srgbClr val="0096C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44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HTML5 + CSS3 + JavaScript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Modern responsive UI with dark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Vanilla JS (No frameworks)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Zero dependencies, fast load, easy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CSS Variables &amp; Glassmorphism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Premium dark-mode design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Fetch API + Async/Await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Non-blocking server communication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280160"/>
            <a:ext cx="3657600" cy="51206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06240" y="1280160"/>
            <a:ext cx="3657600" cy="548640"/>
          </a:xfrm>
          <a:prstGeom prst="roundRect">
            <a:avLst/>
          </a:prstGeom>
          <a:solidFill>
            <a:srgbClr val="0A8F4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344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Node.js + Express.js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Lightweight, event-driven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ADB (Android Debug Bridge)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Device communication via USB/TCP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net (TCP Module)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DLT proxy bridge for log forwarding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child_process (execAsync)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Shell command execution with timeout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280160"/>
            <a:ext cx="3657600" cy="51206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20" y="1280160"/>
            <a:ext cx="3657600" cy="548640"/>
          </a:xfrm>
          <a:prstGeom prst="roundRect">
            <a:avLst/>
          </a:prstGeom>
          <a:solidFill>
            <a:srgbClr val="E67E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344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TOOLING &amp; 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pkg (by Vercel)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Compiles to standalone .exe — no Node.js needed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Single Binary Distribution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TelephonyManager.exe — just double-click to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sessionStorage + localStorage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Client-side state persistence per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JSON-based Config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Dynamic model/command management via JSON files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ARCHITECTURE  —  How the Server Connects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BROWSER CLIENTS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737360"/>
            <a:ext cx="2743200" cy="82296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User A  (Tab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clientId: client_a_1xxx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834639"/>
            <a:ext cx="2743200" cy="82296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8803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User B  (Tab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461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clientId: client_b_2xxx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931920"/>
            <a:ext cx="2743200" cy="82296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User C  (Tab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clientId: client_c_3xxx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1089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EXPRESS.JS SERVER  (Port 3000)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1737360"/>
            <a:ext cx="4572000" cy="4389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31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1. Request 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1031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Maps X-Client-ID header to per-user config</a:t>
            </a:r>
            <a:br/>
            <a:r>
              <a:t>(userConfigs Map: clientId -&gt; {serial, adb, model})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834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2. Command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1089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Executes ADB commands via child_process</a:t>
            </a:r>
            <a:br/>
            <a:r>
              <a:t>with timeout, caching &amp; pattern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840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3. Device 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10s TTL cache with Promise.allSettled</a:t>
            </a:r>
            <a:br/>
            <a:r>
              <a:t>Stale-cache fallback prevents UI flickering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846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4. Notification Bus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5120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Global notification array polled by all clients</a:t>
            </a:r>
            <a:br/>
            <a:r>
              <a:t>ADB changes, IMEI writes broadcast to everyone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A8F4F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8404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A8F4F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TARGET DEVICES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737360"/>
            <a:ext cx="2743200" cy="128016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Device A (Toyota)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194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adb1 -s SERIAL_A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A8F4F"/>
                </a:solidFill>
                <a:latin typeface="Segoe UI"/>
              </a:defRPr>
            </a:pPr>
            <a:r>
              <a:t>USB / TCP-IP Connected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3566160"/>
            <a:ext cx="2743200" cy="128016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35440" y="3657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Device B (BMW)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023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adb1 -s SERIAL_B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4389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A8F4F"/>
                </a:solidFill>
                <a:latin typeface="Segoe UI"/>
              </a:defRPr>
            </a:pPr>
            <a:r>
              <a:t>USB / TCP-IP Connected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5354955"/>
            <a:ext cx="11612880" cy="137160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434965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B4CDB"/>
                </a:solidFill>
                <a:latin typeface="Segoe UI"/>
              </a:defRPr>
            </a:pPr>
            <a:r>
              <a:rPr dirty="0"/>
              <a:t>KEY: Per-User Isolation via X-Client-ID Header</a:t>
            </a:r>
          </a:p>
          <a:p>
            <a:pPr>
              <a:spcAft>
                <a:spcPts val="600"/>
              </a:spcAft>
              <a:defRPr sz="1200" b="0">
                <a:solidFill>
                  <a:srgbClr val="333344"/>
                </a:solidFill>
                <a:latin typeface="Segoe UI"/>
              </a:defRPr>
            </a:pPr>
            <a:r>
              <a:rPr dirty="0"/>
              <a:t>Every browser tab generates a unique </a:t>
            </a:r>
            <a:r>
              <a:rPr dirty="0" err="1"/>
              <a:t>clientId</a:t>
            </a:r>
            <a:r>
              <a:rPr dirty="0"/>
              <a:t> (stored in </a:t>
            </a:r>
            <a:r>
              <a:rPr dirty="0" err="1"/>
              <a:t>sessionStorage</a:t>
            </a:r>
            <a:r>
              <a:rPr dirty="0"/>
              <a:t>). All API calls include this ID as an HTTP header.</a:t>
            </a:r>
          </a:p>
          <a:p>
            <a:pPr>
              <a:spcAft>
                <a:spcPts val="600"/>
              </a:spcAft>
              <a:defRPr sz="1200" b="0">
                <a:solidFill>
                  <a:srgbClr val="333344"/>
                </a:solidFill>
                <a:latin typeface="Segoe UI"/>
              </a:defRPr>
            </a:pPr>
            <a:r>
              <a:rPr dirty="0"/>
              <a:t>The server maintains a Map&lt;</a:t>
            </a:r>
            <a:r>
              <a:rPr dirty="0" err="1"/>
              <a:t>clientId</a:t>
            </a:r>
            <a:r>
              <a:rPr dirty="0"/>
              <a:t>, {serial, </a:t>
            </a:r>
            <a:r>
              <a:rPr dirty="0" err="1"/>
              <a:t>adbBinary</a:t>
            </a:r>
            <a:r>
              <a:rPr dirty="0"/>
              <a:t>, model}&gt; so each user independently targets their own device.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DLT BRIDGE  —  How Each User Gets Isolated Logs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(User's PC)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PUBLIC PORT</a:t>
            </a:r>
            <a:br/>
            <a:r>
              <a:t>(Unique per user)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5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TCP PROXY</a:t>
            </a:r>
            <a:br/>
            <a:r>
              <a:t>(Node.js net)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ADB FORWARD</a:t>
            </a:r>
            <a:br/>
            <a:r>
              <a:t>(Internal port)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DEVICE</a:t>
            </a:r>
            <a:br/>
            <a:r>
              <a:t>(Target)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057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User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17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Port 3490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974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96C7"/>
                </a:solidFill>
                <a:latin typeface="Segoe UI"/>
              </a:defRPr>
            </a:pPr>
            <a:r>
              <a:t>client_a_1xxx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9748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TCP Proxy</a:t>
            </a:r>
            <a:br/>
            <a:r>
              <a:t>0.0.0.0:3490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ADB Forward</a:t>
            </a:r>
            <a:br/>
            <a:r>
              <a:t>localhost:4490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Device A</a:t>
            </a:r>
            <a:br/>
            <a:r>
              <a:t>tcp:3490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User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703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Port 3491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0690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A8F4F"/>
                </a:solidFill>
                <a:latin typeface="Segoe UI"/>
              </a:defRPr>
            </a:pPr>
            <a:r>
              <a:t>client_b_2xxx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0604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97480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TCP Proxy</a:t>
            </a:r>
            <a:br/>
            <a:r>
              <a:t>0.0.0.0:3491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0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ADB Forward</a:t>
            </a:r>
            <a:br/>
            <a:r>
              <a:t>localhost:4491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6948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60920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Device B</a:t>
            </a:r>
            <a:br/>
            <a:r>
              <a:t>tcp:3490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4800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User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0749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Port 3492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4406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E67E00"/>
                </a:solidFill>
                <a:latin typeface="Segoe UI"/>
              </a:defRPr>
            </a:pPr>
            <a:r>
              <a:t>client_c_3xxx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0604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97480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TCP Proxy</a:t>
            </a:r>
            <a:br/>
            <a:r>
              <a:t>0.0.0.0:3492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0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ADB Forward</a:t>
            </a:r>
            <a:br/>
            <a:r>
              <a:t>localhost:4492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6948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60920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Device A</a:t>
            </a:r>
            <a:br/>
            <a:r>
              <a:t>tcp:3490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669280"/>
            <a:ext cx="9144000" cy="109728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" y="569214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5B4CDB"/>
                </a:solidFill>
                <a:latin typeface="Segoe UI"/>
              </a:defRPr>
            </a:pPr>
            <a:r>
              <a:rPr dirty="0"/>
              <a:t>How Isolation Works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rPr dirty="0"/>
              <a:t>Each user picks a UNIQUE public port (e.g., 3490, 3491, 3492)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rPr dirty="0"/>
              <a:t>Server creates an independent TCP proxy per port, tracked by </a:t>
            </a:r>
            <a:r>
              <a:rPr dirty="0" err="1"/>
              <a:t>clientId</a:t>
            </a:r>
            <a:endParaRPr dirty="0"/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rPr dirty="0"/>
              <a:t>When a tab closes (</a:t>
            </a:r>
            <a:r>
              <a:rPr dirty="0" err="1"/>
              <a:t>beforeunload</a:t>
            </a:r>
            <a:r>
              <a:rPr dirty="0"/>
              <a:t>), the proxy is auto-destroyed using </a:t>
            </a:r>
            <a:r>
              <a:rPr dirty="0" err="1"/>
              <a:t>sendBeacon</a:t>
            </a:r>
            <a:endParaRPr dirty="0"/>
          </a:p>
        </p:txBody>
      </p:sp>
      <p:sp>
        <p:nvSpPr>
          <p:cNvPr id="51" name="Rounded Rectangle 50"/>
          <p:cNvSpPr/>
          <p:nvPr/>
        </p:nvSpPr>
        <p:spPr>
          <a:xfrm>
            <a:off x="9601200" y="5486400"/>
            <a:ext cx="2286000" cy="109728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692640" y="55778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12F2F"/>
                </a:solidFill>
                <a:latin typeface="Segoe UI"/>
              </a:defRPr>
            </a:pPr>
            <a:r>
              <a:t>Auto Cleanup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Tab closes -&gt;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Proxy destroyed +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ADB forward removed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GLOBAL NOTIFICATION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88"/>
                </a:solidFill>
                <a:latin typeface="Segoe UI"/>
              </a:defRPr>
            </a:pPr>
            <a:r>
              <a:t>Real-time cross-user notifications — when one user makes a system change, ALL users are alerted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37360"/>
            <a:ext cx="6858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5E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C7"/>
                </a:solidFill>
                <a:latin typeface="Segoe UI"/>
              </a:defRPr>
            </a:pPr>
            <a:r>
              <a:t>1. EVENT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A user performs an action that affects all users</a:t>
            </a:r>
            <a:br/>
            <a:r>
              <a:t>(e.g., switches ADB binary, writes IMEI, etc.)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8F4F"/>
                </a:solidFill>
                <a:latin typeface="Segoe UI"/>
              </a:defRPr>
            </a:pPr>
            <a:r>
              <a:t>2. SERVER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Server calls addGlobalNotification(type, user, message)</a:t>
            </a:r>
            <a:br/>
            <a:r>
              <a:t>Stored in globalNotifications array (last 10 kept)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7E00"/>
                </a:solidFill>
                <a:latin typeface="Segoe UI"/>
              </a:defRPr>
            </a:pPr>
            <a:r>
              <a:t>3. CLIENT POLLS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0233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Every 5s, checkDeviceStatus() fetches /api/device-status</a:t>
            </a:r>
            <a:br/>
            <a:r>
              <a:t>Response includes notifications[] array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B4CDB"/>
                </a:solidFill>
                <a:latin typeface="Segoe UI"/>
              </a:defRPr>
            </a:pPr>
            <a:r>
              <a:t>4. NEW? -&gt; POPUP!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89204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Client checks seenNotifIds (localStorage)</a:t>
            </a:r>
            <a:br/>
            <a:r>
              <a:t>If new -&gt; shows animated system popup with icon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737360"/>
            <a:ext cx="42976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0" y="1828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5E"/>
                </a:solidFill>
                <a:latin typeface="Segoe UI"/>
              </a:defRPr>
            </a:pPr>
            <a:r>
              <a:t>Notification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2377440"/>
            <a:ext cx="3931920" cy="109728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2423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C7"/>
                </a:solidFill>
                <a:latin typeface="Segoe UI"/>
              </a:defRPr>
            </a:pPr>
            <a:r>
              <a:t>ADB Binary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743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88"/>
                </a:solidFill>
                <a:latin typeface="Segoe UI"/>
              </a:defRPr>
            </a:pPr>
            <a:r>
              <a:t>When any user switches between</a:t>
            </a:r>
            <a:br/>
            <a:r>
              <a:t>adb1 / adb2 / custom binary</a:t>
            </a:r>
            <a:br/>
            <a:r>
              <a:t>-&gt; All clients auto-sync their binary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703320"/>
            <a:ext cx="3931920" cy="1097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0" y="3749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A8F4F"/>
                </a:solidFill>
                <a:latin typeface="Segoe UI"/>
              </a:defRPr>
            </a:pPr>
            <a:r>
              <a:t>IMEI Write 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0690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88"/>
                </a:solidFill>
                <a:latin typeface="Segoe UI"/>
              </a:defRPr>
            </a:pPr>
            <a:r>
              <a:t>When IMEI is written to device</a:t>
            </a:r>
            <a:br/>
            <a:r>
              <a:t>-&gt; All users see updated IMEI</a:t>
            </a:r>
            <a:br/>
            <a:r>
              <a:t>immediately on their dashboard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5029200"/>
            <a:ext cx="3931920" cy="109728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5074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00"/>
                </a:solidFill>
                <a:latin typeface="Segoe UI"/>
              </a:defRPr>
            </a:pPr>
            <a:r>
              <a:t>System Announcements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394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88"/>
                </a:solidFill>
                <a:latin typeface="Segoe UI"/>
              </a:defRPr>
            </a:pPr>
            <a:r>
              <a:t>Server-push messages for</a:t>
            </a:r>
            <a:br/>
            <a:r>
              <a:t>maintenance, updates, or</a:t>
            </a:r>
            <a:br/>
            <a:r>
              <a:t>critical device state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MULTI-MODEL SUPPORT &amp; AUTO-DETECTION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566160" cy="210312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3291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2D5E"/>
                </a:solidFill>
                <a:latin typeface="Segoe UI"/>
              </a:defRPr>
            </a:pPr>
            <a:r>
              <a:rPr dirty="0"/>
              <a:t>Toyota</a:t>
            </a:r>
            <a:br>
              <a:rPr dirty="0"/>
            </a:br>
            <a:r>
              <a:rPr lang="en-IN" dirty="0"/>
              <a:t>(Multiple Models</a:t>
            </a:r>
            <a:r>
              <a:rPr lang="en-IN" dirty="0" smtClean="0"/>
              <a:t>)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3291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dirty="0"/>
              <a:t>Standard </a:t>
            </a:r>
            <a:r>
              <a:rPr dirty="0" err="1"/>
              <a:t>sldd</a:t>
            </a:r>
            <a:r>
              <a:rPr dirty="0"/>
              <a:t> path</a:t>
            </a:r>
            <a:br>
              <a:rPr dirty="0"/>
            </a:br>
            <a:r>
              <a:rPr dirty="0"/>
              <a:t>50+ commands</a:t>
            </a:r>
            <a:br>
              <a:rPr dirty="0"/>
            </a:br>
            <a:r>
              <a:rPr dirty="0"/>
              <a:t>Region support: IN, AE, SA, </a:t>
            </a:r>
            <a:r>
              <a:rPr dirty="0" smtClean="0"/>
              <a:t>JP</a:t>
            </a:r>
            <a:r>
              <a:rPr lang="en-IN" dirty="0" smtClean="0"/>
              <a:t>, ETC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4206240" y="1280160"/>
            <a:ext cx="3566160" cy="2103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1417320"/>
            <a:ext cx="3291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rPr lang="en-IN" dirty="0" smtClean="0"/>
              <a:t>Honda</a:t>
            </a:r>
            <a:r>
              <a:rPr dirty="0"/>
              <a:t/>
            </a:r>
            <a:br>
              <a:rPr dirty="0"/>
            </a:br>
            <a:r>
              <a:rPr dirty="0" smtClean="0"/>
              <a:t>(</a:t>
            </a:r>
            <a:r>
              <a:rPr lang="en-IN" dirty="0" smtClean="0"/>
              <a:t>Multiple Models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3291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/>
              <a:t>50+ commands</a:t>
            </a:r>
            <a:r>
              <a:rPr dirty="0"/>
              <a:t/>
            </a:r>
            <a:br>
              <a:rPr dirty="0"/>
            </a:br>
            <a:r>
              <a:rPr dirty="0"/>
              <a:t>Extended telephony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21031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0" y="1417320"/>
            <a:ext cx="3291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rPr lang="en-IN" dirty="0" smtClean="0"/>
              <a:t>Gen12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183880" y="2194560"/>
            <a:ext cx="3291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 smtClean="0"/>
              <a:t>Gen12</a:t>
            </a:r>
            <a:r>
              <a:rPr dirty="0" smtClean="0"/>
              <a:t>-specific commands</a:t>
            </a:r>
            <a:endParaRPr lang="en-IN" dirty="0" smtClean="0"/>
          </a:p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/>
              <a:t>50+ commands</a:t>
            </a:r>
            <a:r>
              <a:rPr dirty="0"/>
              <a:t/>
            </a:r>
            <a:br>
              <a:rPr dirty="0"/>
            </a:br>
            <a:r>
              <a:rPr dirty="0"/>
              <a:t>Custom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749039"/>
            <a:ext cx="3566160" cy="210312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886199"/>
            <a:ext cx="3291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rPr dirty="0" smtClean="0"/>
              <a:t>JLR</a:t>
            </a:r>
            <a:r>
              <a:rPr lang="en-IN" dirty="0" smtClean="0"/>
              <a:t/>
            </a:r>
            <a:br>
              <a:rPr lang="en-IN" dirty="0" smtClean="0"/>
            </a:br>
            <a:r>
              <a:rPr lang="en-IN" dirty="0" smtClean="0"/>
              <a:t>(VCM, TCUA)</a:t>
            </a:r>
            <a:br>
              <a:rPr lang="en-IN" dirty="0" smtClean="0"/>
            </a:b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502920" y="4663439"/>
            <a:ext cx="3291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dirty="0" smtClean="0"/>
              <a:t>JLR </a:t>
            </a:r>
            <a:r>
              <a:rPr dirty="0"/>
              <a:t>platform</a:t>
            </a:r>
            <a:br>
              <a:rPr dirty="0"/>
            </a:br>
            <a:r>
              <a:rPr dirty="0"/>
              <a:t>Full command </a:t>
            </a:r>
            <a:r>
              <a:rPr dirty="0" smtClean="0"/>
              <a:t>set</a:t>
            </a:r>
            <a:endParaRPr lang="en-IN" dirty="0" smtClean="0"/>
          </a:p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/>
              <a:t>50+ commands</a:t>
            </a:r>
            <a:endParaRPr dirty="0"/>
          </a:p>
        </p:txBody>
      </p:sp>
      <p:sp>
        <p:nvSpPr>
          <p:cNvPr id="17" name="Rounded Rectangle 16"/>
          <p:cNvSpPr/>
          <p:nvPr/>
        </p:nvSpPr>
        <p:spPr>
          <a:xfrm>
            <a:off x="4206240" y="3749039"/>
            <a:ext cx="3566160" cy="210312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3400" y="3886199"/>
            <a:ext cx="3291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rPr dirty="0"/>
              <a:t>BMW</a:t>
            </a:r>
            <a:br>
              <a:rPr dirty="0"/>
            </a:br>
            <a:r>
              <a:rPr dirty="0"/>
              <a:t>(WAVE </a:t>
            </a:r>
            <a:r>
              <a:rPr dirty="0" smtClean="0"/>
              <a:t>LOW</a:t>
            </a:r>
            <a:r>
              <a:rPr lang="en-IN" dirty="0" smtClean="0"/>
              <a:t>/HIGH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4343400" y="4663439"/>
            <a:ext cx="3291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/>
              <a:t>Dual SIM </a:t>
            </a:r>
            <a:r>
              <a:rPr lang="en-IN" dirty="0" smtClean="0"/>
              <a:t>BMW</a:t>
            </a:r>
          </a:p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/>
              <a:t>50+ commands</a:t>
            </a:r>
            <a:endParaRPr lang="en-IN" dirty="0" smtClean="0"/>
          </a:p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dirty="0" smtClean="0"/>
              <a:t>Path</a:t>
            </a:r>
            <a:r>
              <a:rPr dirty="0"/>
              <a:t>: /</a:t>
            </a:r>
            <a:r>
              <a:rPr dirty="0" err="1"/>
              <a:t>usr</a:t>
            </a:r>
            <a:r>
              <a:rPr dirty="0"/>
              <a:t>/bin/factory/</a:t>
            </a:r>
            <a:r>
              <a:rPr dirty="0" err="1"/>
              <a:t>sldd</a:t>
            </a:r>
            <a:r>
              <a:rPr dirty="0"/>
              <a:t/>
            </a:r>
            <a:br>
              <a:rPr dirty="0"/>
            </a:br>
            <a:r>
              <a:rPr lang="en-IN" dirty="0"/>
              <a:t>Auto-detected via SW </a:t>
            </a:r>
            <a:r>
              <a:rPr lang="en-IN" dirty="0" err="1"/>
              <a:t>ver</a:t>
            </a:r>
            <a:endParaRPr lang="en-IN" dirty="0"/>
          </a:p>
        </p:txBody>
      </p:sp>
      <p:sp>
        <p:nvSpPr>
          <p:cNvPr id="20" name="Rounded Rectangle 19"/>
          <p:cNvSpPr/>
          <p:nvPr/>
        </p:nvSpPr>
        <p:spPr>
          <a:xfrm>
            <a:off x="8046720" y="3749039"/>
            <a:ext cx="3566160" cy="210312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B8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83880" y="3886199"/>
            <a:ext cx="3291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rPr dirty="0"/>
              <a:t>BMW</a:t>
            </a:r>
            <a:br>
              <a:rPr dirty="0"/>
            </a:br>
            <a:r>
              <a:rPr dirty="0" smtClean="0"/>
              <a:t>(</a:t>
            </a:r>
            <a:r>
              <a:rPr lang="en-IN" dirty="0" smtClean="0"/>
              <a:t>ICONICC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8183880" y="4663439"/>
            <a:ext cx="3291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/>
              <a:t>Standard </a:t>
            </a:r>
            <a:r>
              <a:rPr lang="en-IN" dirty="0" err="1"/>
              <a:t>sldd</a:t>
            </a:r>
            <a:r>
              <a:rPr lang="en-IN" dirty="0"/>
              <a:t> path</a:t>
            </a:r>
            <a:endParaRPr lang="en-IN" dirty="0" smtClean="0"/>
          </a:p>
          <a:p>
            <a:pPr>
              <a:defRPr sz="1200" b="0">
                <a:solidFill>
                  <a:srgbClr val="666688"/>
                </a:solidFill>
                <a:latin typeface="Segoe UI"/>
              </a:defRPr>
            </a:pPr>
            <a:r>
              <a:rPr lang="en-IN" dirty="0" smtClean="0"/>
              <a:t>50</a:t>
            </a:r>
            <a:r>
              <a:rPr lang="en-IN" dirty="0"/>
              <a:t>+ commands</a:t>
            </a:r>
            <a:endParaRPr dirty="0"/>
          </a:p>
        </p:txBody>
      </p:sp>
      <p:sp>
        <p:nvSpPr>
          <p:cNvPr id="23" name="Rounded Rectangle 22"/>
          <p:cNvSpPr/>
          <p:nvPr/>
        </p:nvSpPr>
        <p:spPr>
          <a:xfrm>
            <a:off x="365760" y="5943600"/>
            <a:ext cx="11430000" cy="7315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A8F4F"/>
                </a:solidFill>
                <a:latin typeface="Segoe UI"/>
              </a:defRPr>
            </a:pPr>
            <a:r>
              <a:t>AUTO-DETECTION:  Server reads 'cat etc/version'  -&gt;  If output contains 'WAVE'  -&gt;  auto-switches to BMW model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Also uses sticky version cache: if version read fails temporarily, the model doesn't flip back. Smooth experience.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AUTOMATED REGRESSION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486400" cy="5303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Regression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Configure test sequences — drag &amp; drop command ordering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Set iteration count (1 to 1000+ cycles)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Per-step configurable delay (e.g., 5s between commands)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Custom parameters for Dial / SMS steps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Pause / Resume mid-regression without losing progress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Stop at any time — results preserved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Live progress bar with current iteration / total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Real-time PASS / FAIL count on screen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Module-based quick selection (add all SIM, Network, Call commands)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Detailed timestamped log for every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57784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CSV Export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44"/>
                </a:solidFill>
                <a:latin typeface="Segoe UI"/>
              </a:defRPr>
            </a:pPr>
            <a:r>
              <a:t>One-click export generates a CSV with:</a:t>
            </a:r>
          </a:p>
          <a:p>
            <a:pPr>
              <a:spcAft>
                <a:spcPts val="600"/>
              </a:spcAft>
              <a:defRPr sz="600" b="0">
                <a:solidFill>
                  <a:srgbClr val="666688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200" b="0">
                <a:solidFill>
                  <a:srgbClr val="0096C7"/>
                </a:solidFill>
                <a:latin typeface="Segoe UI"/>
              </a:defRPr>
            </a:pPr>
            <a:r>
              <a:t>Iteration #  |  Step #  |  Timestamp</a:t>
            </a:r>
          </a:p>
          <a:p>
            <a:pPr>
              <a:spcAft>
                <a:spcPts val="600"/>
              </a:spcAft>
              <a:defRPr sz="1200" b="0">
                <a:solidFill>
                  <a:srgbClr val="0096C7"/>
                </a:solidFill>
                <a:latin typeface="Segoe UI"/>
              </a:defRPr>
            </a:pPr>
            <a:r>
              <a:t>Command Name  |  Command ID</a:t>
            </a:r>
          </a:p>
          <a:p>
            <a:pPr>
              <a:spcAft>
                <a:spcPts val="600"/>
              </a:spcAft>
              <a:defRPr sz="1200" b="0">
                <a:solidFill>
                  <a:srgbClr val="0096C7"/>
                </a:solidFill>
                <a:latin typeface="Segoe UI"/>
              </a:defRPr>
            </a:pPr>
            <a:r>
              <a:t>Full Output  |  PASS / FAIL Status</a:t>
            </a:r>
          </a:p>
          <a:p>
            <a:pPr>
              <a:spcAft>
                <a:spcPts val="600"/>
              </a:spcAft>
              <a:defRPr sz="600" b="0">
                <a:solidFill>
                  <a:srgbClr val="666688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File: regression_report_{model}_{timestamp}.csv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9768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Smart PASS/FAIL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44"/>
                </a:solidFill>
                <a:latin typeface="Segoe UI"/>
              </a:defRPr>
            </a:pPr>
            <a:r>
              <a:t>Commands are auto-validated using regex patterns:</a:t>
            </a:r>
          </a:p>
          <a:p>
            <a:pPr>
              <a:spcAft>
                <a:spcPts val="600"/>
              </a:spcAft>
              <a:defRPr sz="600" b="0">
                <a:solidFill>
                  <a:srgbClr val="666688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SIM State  -&gt;  expects numeric state value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Network Type  -&gt;  accepts ANY numeric type (not hardcoded)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EID  -&gt;  passes even if empty (eUICC optional)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Radio State  -&gt;  supports both Toyota &amp; BMW formats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Custom patterns per command 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DEPLOYMENT &amp;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4864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How to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1.  Copy TelephonyManager.exe to setup PC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2.  Connect device via USB (or ADB over TCP/IP)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3.  Double-click TelephonyManager.exe to start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4.  Open browser: http://localhost:3000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5.  Share IP with team: http://&lt;PC-IP&gt;:3000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6.  Each user opens their own tab — done!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297680"/>
            <a:ext cx="54864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D2D5E"/>
                </a:solidFill>
                <a:latin typeface="Segoe UI"/>
              </a:defRPr>
            </a:pPr>
            <a:r>
              <a:rPr dirty="0" smtClean="0"/>
              <a:t>Remote PC</a:t>
            </a:r>
            <a:r>
              <a:rPr lang="en-IN" dirty="0" smtClean="0"/>
              <a:t> v/s Our Web-App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Setup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30+ min  -&gt;  10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663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Concurrent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51663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1 (single session)  -&gt;  Unlimited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Bandwidth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486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High (screen streaming)  -&gt;  Minimal (JSON API)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Regression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806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Fully manual  -&gt;  Fully automated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DLT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126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Manual per-PC config  -&gt;  Auto per-user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280160"/>
            <a:ext cx="5577840" cy="5303520"/>
          </a:xfrm>
          <a:prstGeom prst="roundRect">
            <a:avLst/>
          </a:prstGeom>
          <a:solidFill>
            <a:srgbClr val="5B4CDB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004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FF"/>
                </a:solidFill>
                <a:latin typeface="Segoe UI"/>
              </a:defRPr>
            </a:pPr>
            <a:r>
              <a:t>Questions &amp; Live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114800"/>
            <a:ext cx="48463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CCCCEE"/>
                </a:solidFill>
                <a:latin typeface="Segoe UI"/>
              </a:defRPr>
            </a:pPr>
            <a:r>
              <a:rPr dirty="0"/>
              <a:t>Developed by: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Nitish</a:t>
            </a:r>
            <a:r>
              <a:rPr dirty="0"/>
              <a:t> Kumar</a:t>
            </a:r>
          </a:p>
          <a:p>
            <a:pPr>
              <a:spcAft>
                <a:spcPts val="600"/>
              </a:spcAft>
              <a:defRPr sz="1300" b="0">
                <a:solidFill>
                  <a:srgbClr val="CCCCEE"/>
                </a:solidFill>
                <a:latin typeface="Segoe UI"/>
              </a:defRPr>
            </a:pPr>
            <a:r>
              <a:rPr dirty="0"/>
              <a:t>Connected Service Unit  |  LG Electronics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  <a:latin typeface="Segoe UI"/>
              </a:defRPr>
            </a:pPr>
            <a:endParaRPr dirty="0"/>
          </a:p>
          <a:p>
            <a:pPr>
              <a:spcAft>
                <a:spcPts val="600"/>
              </a:spcAft>
              <a:defRPr sz="1200" b="0">
                <a:solidFill>
                  <a:srgbClr val="CCDDFF"/>
                </a:solidFill>
                <a:latin typeface="Segoe UI"/>
              </a:defRPr>
            </a:pPr>
            <a:r>
              <a:rPr dirty="0"/>
              <a:t>nitish10.kumar@lge.com</a:t>
            </a:r>
          </a:p>
          <a:p>
            <a:pPr>
              <a:spcAft>
                <a:spcPts val="600"/>
              </a:spcAft>
              <a:defRPr sz="1200" b="0">
                <a:solidFill>
                  <a:srgbClr val="CCDDFF"/>
                </a:solidFill>
                <a:latin typeface="Segoe UI"/>
              </a:defRPr>
            </a:pPr>
            <a:r>
              <a:rPr dirty="0"/>
              <a:t>http</a:t>
            </a:r>
            <a:r>
              <a:rPr dirty="0" smtClean="0"/>
              <a:t>://</a:t>
            </a:r>
            <a:r>
              <a:rPr lang="en-IN" dirty="0" smtClean="0"/>
              <a:t>si-nitishk</a:t>
            </a:r>
            <a:r>
              <a:rPr dirty="0" smtClean="0"/>
              <a:t>:3000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1247</Words>
  <Application>Microsoft Office PowerPoint</Application>
  <PresentationFormat>Custom</PresentationFormat>
  <Paragraphs>250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nitish10.kumar</cp:lastModifiedBy>
  <cp:revision>18</cp:revision>
  <dcterms:created xsi:type="dcterms:W3CDTF">2013-01-27T09:14:16Z</dcterms:created>
  <dcterms:modified xsi:type="dcterms:W3CDTF">2026-02-13T09:01:23Z</dcterms:modified>
  <cp:category/>
</cp:coreProperties>
</file>