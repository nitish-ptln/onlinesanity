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-53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D2D5E"/>
                </a:solidFill>
                <a:latin typeface="Segoe UI"/>
              </a:defRPr>
            </a:pPr>
            <a:r>
              <a:t>TELEPHONY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5B4CDB"/>
                </a:solidFill>
                <a:latin typeface="Segoe UI"/>
              </a:defRPr>
            </a:pPr>
            <a:r>
              <a:t>Online Sanity Testing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88"/>
                </a:solidFill>
                <a:latin typeface="Segoe UI"/>
              </a:defRPr>
            </a:pPr>
            <a:r>
              <a:t>A modern web-based tool for remote telephony sanity testing — replacing heavyweight</a:t>
            </a:r>
            <a:br/>
            <a:r>
              <a:t>Remote PC sessions with a lightweight, multi-user, real-time browser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5943600"/>
            <a:ext cx="12188952" cy="914400"/>
          </a:xfrm>
          <a:prstGeom prst="roundRect">
            <a:avLst/>
          </a:prstGeom>
          <a:solidFill>
            <a:srgbClr val="F0F1F6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88"/>
                </a:solidFill>
                <a:latin typeface="Segoe UI"/>
              </a:defRPr>
            </a:pPr>
            <a:r>
              <a:t>LG Electronics  |  Connected Service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08076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66688"/>
                </a:solidFill>
                <a:latin typeface="Segoe UI"/>
              </a:defRPr>
            </a:pPr>
            <a:r>
              <a:rPr lang="en-IN" dirty="0" smtClean="0"/>
              <a:t>Nitish Kumar</a:t>
            </a:r>
            <a:r>
              <a:rPr dirty="0" smtClean="0"/>
              <a:t>  </a:t>
            </a:r>
            <a:r>
              <a:rPr dirty="0"/>
              <a:t>| </a:t>
            </a:r>
            <a:r>
              <a:rPr lang="en-IN" dirty="0" smtClean="0"/>
              <a:t>Release version</a:t>
            </a:r>
            <a:r>
              <a:rPr dirty="0" smtClean="0"/>
              <a:t> </a:t>
            </a:r>
            <a:r>
              <a:rPr dirty="0"/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THE PROBLEM  —  Remote PC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1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12F2F"/>
                </a:solidFill>
                <a:latin typeface="Segoe UI"/>
              </a:defRPr>
            </a:pPr>
            <a:r>
              <a:t>Remote PC  (Current Method)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Only ONE user can connect at a time (exclusive session)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Requires full desktop streaming — high bandwidth needed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Slow &amp; laggy UI — screen refresh delays up to 2-3 seconds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If connection drops, session is lost entirely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No parallel testing — team waits for one person to finish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Device physical access required to troubleshoot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No automated regression — everything is manual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DLT logs require separate setup on each PC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No real-time device status dashboard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No test history / export capability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12F2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IP conflicts when multiple users try to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8F4F"/>
                </a:solidFill>
                <a:latin typeface="Segoe UI"/>
              </a:defRPr>
            </a:pPr>
            <a:r>
              <a:rPr lang="en-IN" dirty="0" smtClean="0"/>
              <a:t>Our Solution (</a:t>
            </a:r>
            <a:r>
              <a:rPr dirty="0" smtClean="0"/>
              <a:t>Telephony </a:t>
            </a:r>
            <a:r>
              <a:rPr lang="en-IN" dirty="0" smtClean="0"/>
              <a:t>Automation)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Multi-user access — unlimited tabs, zero conflicts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Lightweight browser UI — no screen streaming needed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Instant command execution — sub-second response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Session persists even if browser tab is refreshed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Parallel testing — team works simultaneously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Remote device access via ADB over network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Built-in automated regression with CSV export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DLT bridge auto-configures per user session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Live device dashboard (IMEI, SIM, Radio, Region)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Full test history with PASS/FAIL export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Per-user isolation — no IP or port conflicts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rPr lang="en-IN" dirty="0" smtClean="0"/>
              <a:t>Dashboard: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0" y="1156213"/>
            <a:ext cx="12070127" cy="5507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761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23774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365760" cy="365760"/>
          </a:xfrm>
          <a:prstGeom prst="roundRect">
            <a:avLst/>
          </a:prstGeom>
          <a:solidFill>
            <a:srgbClr val="0096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Live Device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Real-time status bar showing IMEI, SIM State,</a:t>
            </a:r>
            <a:br/>
            <a:r>
              <a:t>Service State, Radio State, Region, SW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97480" cy="2377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47288" y="1298448"/>
            <a:ext cx="365760" cy="365760"/>
          </a:xfrm>
          <a:prstGeom prst="roundRect">
            <a:avLst/>
          </a:prstGeom>
          <a:solidFill>
            <a:srgbClr val="B886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298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One-Click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Execute 50+ telephony commands with pass/fail</a:t>
            </a:r>
            <a:br/>
            <a:r>
              <a:t>validation using pattern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697480" cy="2377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27648" y="1298448"/>
            <a:ext cx="365760" cy="365760"/>
          </a:xfrm>
          <a:prstGeom prst="roundRect">
            <a:avLst/>
          </a:prstGeom>
          <a:solidFill>
            <a:srgbClr val="0A8F4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298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Automated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Configure test sequences, set iterations, pause/</a:t>
            </a:r>
            <a:br/>
            <a:r>
              <a:t>resume, and export CSV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188720"/>
            <a:ext cx="2697480" cy="237744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5B4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08008" y="1298448"/>
            <a:ext cx="365760" cy="365760"/>
          </a:xfrm>
          <a:prstGeom prst="roundRect">
            <a:avLst/>
          </a:prstGeom>
          <a:solidFill>
            <a:srgbClr val="5B4CD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298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DLT 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28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Auto-configures TCP proxy per user for DLT log</a:t>
            </a:r>
            <a:br/>
            <a:r>
              <a:t>forwarding — no manual setup needed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2697480" cy="23774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3950208"/>
            <a:ext cx="365760" cy="365760"/>
          </a:xfrm>
          <a:prstGeom prst="roundRect">
            <a:avLst/>
          </a:prstGeom>
          <a:solidFill>
            <a:srgbClr val="E67E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Multi-User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Each user gets unique client ID, isolated config,</a:t>
            </a:r>
            <a:br/>
            <a:r>
              <a:t>separate DLT ports — zero conflicts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840480"/>
            <a:ext cx="2697480" cy="23774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1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47288" y="3950208"/>
            <a:ext cx="365760" cy="365760"/>
          </a:xfrm>
          <a:prstGeom prst="roundRect">
            <a:avLst/>
          </a:prstGeom>
          <a:solidFill>
            <a:srgbClr val="D12F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47288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Global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Real-time popups for ADB changes, IMEI writes,</a:t>
            </a:r>
            <a:br/>
            <a:r>
              <a:t>and system events across all users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80"/>
            <a:ext cx="2697480" cy="23774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27648" y="3950208"/>
            <a:ext cx="365760" cy="365760"/>
          </a:xfrm>
          <a:prstGeom prst="roundRect">
            <a:avLst/>
          </a:prstGeom>
          <a:solidFill>
            <a:srgbClr val="0096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Multi-Model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Toyota, JLR, BMW WAVE LOW/HIGH with auto-</a:t>
            </a:r>
            <a:br/>
            <a:r>
              <a:t>detection based on device software version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840480"/>
            <a:ext cx="2697480" cy="2377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208008" y="3950208"/>
            <a:ext cx="365760" cy="365760"/>
          </a:xfrm>
          <a:prstGeom prst="roundRect">
            <a:avLst/>
          </a:prstGeom>
          <a:solidFill>
            <a:srgbClr val="B886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08008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5E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t>Add/remove models, commands, categories</a:t>
            </a:r>
            <a:br/>
            <a:r>
              <a:t>dynamically without code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51206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548640"/>
          </a:xfrm>
          <a:prstGeom prst="roundRect">
            <a:avLst/>
          </a:prstGeom>
          <a:solidFill>
            <a:srgbClr val="0096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HTML5 + CSS3 + JavaScript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Modern responsive UI with dark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Vanilla JS (No frameworks)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Zero dependencies, fast load, easy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CSS Variables &amp; Glassmorphism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Premium dark-mode design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Fetch API + Async/Await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Non-blocking server communication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65760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06240" y="1280160"/>
            <a:ext cx="3657600" cy="548640"/>
          </a:xfrm>
          <a:prstGeom prst="roundRect">
            <a:avLst/>
          </a:prstGeom>
          <a:solidFill>
            <a:srgbClr val="0A8F4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Node.js + Express.js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Lightweight, event-driven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ADB (Android Debug Bridge)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Device communication via USB/TCP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net (TCP Module)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DLT proxy bridge for log forwarding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child_process (execAsync)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Shell command execution with timeout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280160"/>
            <a:ext cx="3657600" cy="5120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1280160"/>
            <a:ext cx="3657600" cy="548640"/>
          </a:xfrm>
          <a:prstGeom prst="roundRect">
            <a:avLst/>
          </a:prstGeom>
          <a:solidFill>
            <a:srgbClr val="E67E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TOOLING &amp;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pkg (by Vercel)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Compiles to standalone .exe — no Node.js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Single Binary Distribution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TelephonyManager.exe — just double-click to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sessionStorage + localStorage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Client-side state persistence per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43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D2D5E"/>
                </a:solidFill>
                <a:latin typeface="Segoe UI"/>
              </a:defRPr>
            </a:pPr>
            <a:r>
              <a:t>JSON-based Config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Dynamic model/command management via JSON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ARCHITECTURE  —  How the Server Connects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BROWSER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2743200" cy="82296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5E"/>
                </a:solidFill>
                <a:latin typeface="Segoe UI"/>
              </a:defRPr>
            </a:pPr>
            <a:r>
              <a:t>User A  (Tab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clientId: client_a_1xxx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834639"/>
            <a:ext cx="2743200" cy="82296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880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5E"/>
                </a:solidFill>
                <a:latin typeface="Segoe UI"/>
              </a:defRPr>
            </a:pPr>
            <a:r>
              <a:t>User B  (Tab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clientId: client_b_2xxx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2743200" cy="82296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5E"/>
                </a:solidFill>
                <a:latin typeface="Segoe UI"/>
              </a:defRPr>
            </a:pPr>
            <a:r>
              <a:t>User C  (Tab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clientId: client_c_3xxx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8F4F"/>
                </a:solidFill>
                <a:latin typeface="Segoe UI"/>
              </a:defRPr>
            </a:pPr>
            <a:r>
              <a:t>EXPRESS.JS SERVER  (Port 3000)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737360"/>
            <a:ext cx="457200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1. Request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103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Maps X-Client-ID header to per-user config</a:t>
            </a:r>
            <a:br/>
            <a:r>
              <a:t>(userConfigs Map: clientId -&gt; {serial, adb, model})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2. Command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Executes ADB commands via child_process</a:t>
            </a:r>
            <a:br/>
            <a:r>
              <a:t>with timeout, caching &amp; pattern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3. Device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10s TTL cache with Promise.allSettled</a:t>
            </a:r>
            <a:br/>
            <a:r>
              <a:t>Stale-cache fallback prevents UI flickering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4. Notification Bus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120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Global notification array polled by all clients</a:t>
            </a:r>
            <a:br/>
            <a:r>
              <a:t>ADB changes, IMEI writes broadcast to everyone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8F4F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8F4F"/>
                </a:solidFill>
                <a:latin typeface="Segoe UI"/>
              </a:defRPr>
            </a:pPr>
            <a:r>
              <a:t>──►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00"/>
                </a:solidFill>
                <a:latin typeface="Segoe UI"/>
              </a:defRPr>
            </a:pPr>
            <a:r>
              <a:t>TARGET DEVICES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737360"/>
            <a:ext cx="2743200" cy="12801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5E"/>
                </a:solidFill>
                <a:latin typeface="Segoe UI"/>
              </a:defRPr>
            </a:pPr>
            <a:r>
              <a:t>Device A (Toyota)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adb1 -s SERIAL_A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8F4F"/>
                </a:solidFill>
                <a:latin typeface="Segoe UI"/>
              </a:defRPr>
            </a:pPr>
            <a:r>
              <a:t>USB / TCP-IP Connected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566160"/>
            <a:ext cx="2743200" cy="12801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5E"/>
                </a:solidFill>
                <a:latin typeface="Segoe UI"/>
              </a:defRPr>
            </a:pPr>
            <a:r>
              <a:t>Device B (BMW)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023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adb1 -s SERIAL_B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389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8F4F"/>
                </a:solidFill>
                <a:latin typeface="Segoe UI"/>
              </a:defRPr>
            </a:pPr>
            <a:r>
              <a:t>USB / TCP-IP Connected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354955"/>
            <a:ext cx="11612880" cy="137160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5B4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434965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5B4CDB"/>
                </a:solidFill>
                <a:latin typeface="Segoe UI"/>
              </a:defRPr>
            </a:pPr>
            <a:r>
              <a:rPr dirty="0"/>
              <a:t>KEY: Per-User Isolation via X-Client-ID Header</a:t>
            </a:r>
          </a:p>
          <a:p>
            <a:pPr>
              <a:spcAft>
                <a:spcPts val="600"/>
              </a:spcAft>
              <a:defRPr sz="1200" b="0">
                <a:solidFill>
                  <a:srgbClr val="333344"/>
                </a:solidFill>
                <a:latin typeface="Segoe UI"/>
              </a:defRPr>
            </a:pPr>
            <a:r>
              <a:rPr dirty="0"/>
              <a:t>Every browser tab generates a unique </a:t>
            </a:r>
            <a:r>
              <a:rPr dirty="0" err="1"/>
              <a:t>clientId</a:t>
            </a:r>
            <a:r>
              <a:rPr dirty="0"/>
              <a:t> (stored in </a:t>
            </a:r>
            <a:r>
              <a:rPr dirty="0" err="1"/>
              <a:t>sessionStorage</a:t>
            </a:r>
            <a:r>
              <a:rPr dirty="0"/>
              <a:t>). All API calls include this ID as an HTTP header.</a:t>
            </a:r>
          </a:p>
          <a:p>
            <a:pPr>
              <a:spcAft>
                <a:spcPts val="600"/>
              </a:spcAft>
              <a:defRPr sz="1200" b="0">
                <a:solidFill>
                  <a:srgbClr val="333344"/>
                </a:solidFill>
                <a:latin typeface="Segoe UI"/>
              </a:defRPr>
            </a:pPr>
            <a:r>
              <a:rPr dirty="0"/>
              <a:t>The server maintains a Map&lt;</a:t>
            </a:r>
            <a:r>
              <a:rPr dirty="0" err="1"/>
              <a:t>clientId</a:t>
            </a:r>
            <a:r>
              <a:rPr dirty="0"/>
              <a:t>, {serial, </a:t>
            </a:r>
            <a:r>
              <a:rPr dirty="0" err="1"/>
              <a:t>adbBinary</a:t>
            </a:r>
            <a:r>
              <a:rPr dirty="0"/>
              <a:t>, model}&gt; so each user independently targets their own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DLT BRIDGE  —  How Each User Gets Isolated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88"/>
                </a:solidFill>
                <a:latin typeface="Segoe UI"/>
              </a:defRPr>
            </a:pPr>
            <a:r>
              <a:t>DLT VIEWER</a:t>
            </a:r>
            <a:br/>
            <a:r>
              <a:t>(User's PC)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3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88"/>
                </a:solidFill>
                <a:latin typeface="Segoe UI"/>
              </a:defRPr>
            </a:pPr>
            <a:r>
              <a:t>PUBLIC PORT</a:t>
            </a:r>
            <a:br/>
            <a:r>
              <a:t>(Unique per 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88"/>
                </a:solidFill>
                <a:latin typeface="Segoe UI"/>
              </a:defRPr>
            </a:pPr>
            <a:r>
              <a:t>TCP PROXY</a:t>
            </a:r>
            <a:br/>
            <a:r>
              <a:t>(Node.js 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88"/>
                </a:solidFill>
                <a:latin typeface="Segoe UI"/>
              </a:defRPr>
            </a:pPr>
            <a:r>
              <a:t>ADB FORWARD</a:t>
            </a:r>
            <a:br/>
            <a:r>
              <a:t>(Internal 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188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88"/>
                </a:solidFill>
                <a:latin typeface="Segoe UI"/>
              </a:defRPr>
            </a:pPr>
            <a:r>
              <a:t>DEVICE</a:t>
            </a:r>
            <a:br/>
            <a:r>
              <a:t>(Target)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011680"/>
            <a:ext cx="2103120" cy="10058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User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DLT Viewer</a:t>
            </a:r>
            <a:br/>
            <a:r>
              <a:t>Port 3490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96C7"/>
                </a:solidFill>
                <a:latin typeface="Segoe UI"/>
              </a:defRPr>
            </a:pPr>
            <a:r>
              <a:t>client_a_1xxx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011680"/>
            <a:ext cx="2103120" cy="10058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TCP Proxy</a:t>
            </a:r>
            <a:br/>
            <a:r>
              <a:t>0.0.0.0:3490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2103120" cy="10058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ADB Forward</a:t>
            </a:r>
            <a:br/>
            <a:r>
              <a:t>localhost:4490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011680"/>
            <a:ext cx="2103120" cy="100584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Device A</a:t>
            </a:r>
            <a:br/>
            <a:r>
              <a:t>tcp:3490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383280"/>
            <a:ext cx="210312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User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DLT Viewer</a:t>
            </a:r>
            <a:br/>
            <a:r>
              <a:t>Port 3491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069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A8F4F"/>
                </a:solidFill>
                <a:latin typeface="Segoe UI"/>
              </a:defRPr>
            </a:pPr>
            <a:r>
              <a:t>client_b_2xxx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8F4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383280"/>
            <a:ext cx="210312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TCP Proxy</a:t>
            </a:r>
            <a:br/>
            <a:r>
              <a:t>0.0.0.0:3491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8F4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3383280"/>
            <a:ext cx="210312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ADB Forward</a:t>
            </a:r>
            <a:br/>
            <a:r>
              <a:t>localhost:4491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8F4F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3383280"/>
            <a:ext cx="210312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Device B</a:t>
            </a:r>
            <a:br/>
            <a:r>
              <a:t>tcp:3490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54880"/>
            <a:ext cx="2103120" cy="1005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5E"/>
                </a:solidFill>
                <a:latin typeface="Segoe UI"/>
              </a:defRPr>
            </a:pPr>
            <a:r>
              <a:t>User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88"/>
                </a:solidFill>
                <a:latin typeface="Segoe UI"/>
              </a:defRPr>
            </a:pPr>
            <a:r>
              <a:t>DLT Viewer</a:t>
            </a:r>
            <a:br/>
            <a:r>
              <a:t>Port 3492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4406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67E00"/>
                </a:solidFill>
                <a:latin typeface="Segoe UI"/>
              </a:defRPr>
            </a:pPr>
            <a:r>
              <a:t>client_c_3xxx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00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40" y="4754880"/>
            <a:ext cx="2103120" cy="1005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97480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TCP Proxy</a:t>
            </a:r>
            <a:br/>
            <a:r>
              <a:t>0.0.0.0:3492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00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4754880"/>
            <a:ext cx="2103120" cy="1005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0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ADB Forward</a:t>
            </a:r>
            <a:br/>
            <a:r>
              <a:t>localhost:4492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00"/>
                </a:solidFill>
                <a:latin typeface="Segoe UI"/>
              </a:defRPr>
            </a:pPr>
            <a:r>
              <a:t>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754880"/>
            <a:ext cx="2103120" cy="1005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0920" y="4892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5E"/>
                </a:solidFill>
                <a:latin typeface="Segoe UI"/>
              </a:defRPr>
            </a:pPr>
            <a:r>
              <a:t>Device A</a:t>
            </a:r>
            <a:br/>
            <a:r>
              <a:t>tcp:3490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669280"/>
            <a:ext cx="9144000" cy="109728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5B4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56921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B4CDB"/>
                </a:solidFill>
                <a:latin typeface="Segoe UI"/>
              </a:defRPr>
            </a:pPr>
            <a:r>
              <a:rPr dirty="0"/>
              <a:t>How Isolation Works</a:t>
            </a:r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rPr dirty="0"/>
              <a:t>Each user picks a UNIQUE public port (e.g., 3490, 3491, 3492)</a:t>
            </a:r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rPr dirty="0"/>
              <a:t>Server creates an independent TCP proxy per port, tracked by </a:t>
            </a:r>
            <a:r>
              <a:rPr dirty="0" err="1"/>
              <a:t>clientId</a:t>
            </a:r>
            <a:endParaRPr dirty="0"/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rPr dirty="0"/>
              <a:t>When a tab closes (</a:t>
            </a:r>
            <a:r>
              <a:rPr dirty="0" err="1"/>
              <a:t>beforeunload</a:t>
            </a:r>
            <a:r>
              <a:rPr dirty="0"/>
              <a:t>), the proxy is auto-destroyed using </a:t>
            </a:r>
            <a:r>
              <a:rPr dirty="0" err="1"/>
              <a:t>sendBeacon</a:t>
            </a:r>
            <a:endParaRPr dirty="0"/>
          </a:p>
        </p:txBody>
      </p:sp>
      <p:sp>
        <p:nvSpPr>
          <p:cNvPr id="51" name="Rounded Rectangle 50"/>
          <p:cNvSpPr/>
          <p:nvPr/>
        </p:nvSpPr>
        <p:spPr>
          <a:xfrm>
            <a:off x="9601200" y="5486400"/>
            <a:ext cx="228600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1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5577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12F2F"/>
                </a:solidFill>
                <a:latin typeface="Segoe UI"/>
              </a:defRPr>
            </a:pPr>
            <a:r>
              <a:t>Auto Cleanup</a:t>
            </a:r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t>Tab closes -&gt;</a:t>
            </a:r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t>Proxy destroyed +</a:t>
            </a:r>
          </a:p>
          <a:p>
            <a:pPr>
              <a:spcAft>
                <a:spcPts val="600"/>
              </a:spcAft>
              <a:defRPr sz="1100" b="0">
                <a:solidFill>
                  <a:srgbClr val="333344"/>
                </a:solidFill>
                <a:latin typeface="Segoe UI"/>
              </a:defRPr>
            </a:pPr>
            <a:r>
              <a:t>ADB forward removed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GLOBAL NOTIFICATION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88"/>
                </a:solidFill>
                <a:latin typeface="Segoe UI"/>
              </a:defRPr>
            </a:pPr>
            <a:r>
              <a:t>Real-time cross-user notifications — when one user makes a system change, ALL users are alerted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6858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5E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Segoe UI"/>
              </a:defRPr>
            </a:pPr>
            <a:r>
              <a:t>1. EVENT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Segoe UI"/>
              </a:defRPr>
            </a:pPr>
            <a:r>
              <a:t>A user performs an action that affects all users</a:t>
            </a:r>
            <a:br/>
            <a:r>
              <a:t>(e.g., switches ADB binary, writes IMEI,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F4F"/>
                </a:solidFill>
                <a:latin typeface="Segoe UI"/>
              </a:defRPr>
            </a:pPr>
            <a:r>
              <a:t>2. SERVER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54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Segoe UI"/>
              </a:defRPr>
            </a:pPr>
            <a:r>
              <a:t>Server calls addGlobalNotification(type, user, message)</a:t>
            </a:r>
            <a:br/>
            <a:r>
              <a:t>Stored in globalNotifications array (last 10 kept)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00"/>
                </a:solidFill>
                <a:latin typeface="Segoe UI"/>
              </a:defRPr>
            </a:pPr>
            <a:r>
              <a:t>3. CLIENT POLLS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Segoe UI"/>
              </a:defRPr>
            </a:pPr>
            <a:r>
              <a:t>Every 5s, checkDeviceStatus() fetches /api/device-status</a:t>
            </a:r>
            <a:br/>
            <a:r>
              <a:t>Response includes notifications[]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4CDB"/>
                </a:solidFill>
                <a:latin typeface="Segoe UI"/>
              </a:defRPr>
            </a:pPr>
            <a:r>
              <a:t>4. NEW? -&gt; POPUP!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92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Segoe UI"/>
              </a:defRPr>
            </a:pPr>
            <a:r>
              <a:t>Client checks seenNotifIds (localStorage)</a:t>
            </a:r>
            <a:br/>
            <a:r>
              <a:t>If new -&gt; shows animated system popup with icon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737360"/>
            <a:ext cx="4297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5E"/>
                </a:solidFill>
                <a:latin typeface="Segoe UI"/>
              </a:defRPr>
            </a:pPr>
            <a:r>
              <a:t>Notification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377440"/>
            <a:ext cx="3931920" cy="109728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Segoe UI"/>
              </a:defRPr>
            </a:pPr>
            <a:r>
              <a:t>ADB Binary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When any user switches between</a:t>
            </a:r>
            <a:br/>
            <a:r>
              <a:t>adb1 / adb2 / custom binary</a:t>
            </a:r>
            <a:br/>
            <a:r>
              <a:t>-&gt; All clients auto-sync their binary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703320"/>
            <a:ext cx="39319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8F4F"/>
                </a:solidFill>
                <a:latin typeface="Segoe UI"/>
              </a:defRPr>
            </a:pPr>
            <a:r>
              <a:t>IMEI Write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069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When IMEI is written to device</a:t>
            </a:r>
            <a:br/>
            <a:r>
              <a:t>-&gt; All users see updated IMEI</a:t>
            </a:r>
            <a:br/>
            <a:r>
              <a:t>immediately on their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029200"/>
            <a:ext cx="393192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00"/>
                </a:solidFill>
                <a:latin typeface="Segoe UI"/>
              </a:defRPr>
            </a:pPr>
            <a:r>
              <a:t>System Announcements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3949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Server-push messages for</a:t>
            </a:r>
            <a:br/>
            <a:r>
              <a:t>maintenance, updates, or</a:t>
            </a:r>
            <a:br/>
            <a:r>
              <a:t>critical device state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MULTI-MODEL SUPPORT &amp; AUTO-DETECTION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566160" cy="210312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dirty="0"/>
              <a:t>Toyota</a:t>
            </a:r>
            <a:br>
              <a:rPr dirty="0"/>
            </a:br>
            <a:r>
              <a:rPr lang="en-IN" dirty="0"/>
              <a:t>(Multiple Models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dirty="0"/>
              <a:t>Standard </a:t>
            </a:r>
            <a:r>
              <a:rPr dirty="0" err="1"/>
              <a:t>sldd</a:t>
            </a:r>
            <a:r>
              <a:rPr dirty="0"/>
              <a:t> path</a:t>
            </a:r>
            <a:br>
              <a:rPr dirty="0"/>
            </a:br>
            <a:r>
              <a:rPr dirty="0"/>
              <a:t>50+ commands</a:t>
            </a:r>
            <a:br>
              <a:rPr dirty="0"/>
            </a:br>
            <a:r>
              <a:rPr dirty="0"/>
              <a:t>Region support: IN, AE, SA, </a:t>
            </a:r>
            <a:r>
              <a:rPr dirty="0" smtClean="0"/>
              <a:t>JP</a:t>
            </a:r>
            <a:r>
              <a:rPr lang="en-IN" dirty="0" smtClean="0"/>
              <a:t>, ETC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56616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lang="en-IN" dirty="0" smtClean="0"/>
              <a:t>Honda</a:t>
            </a:r>
            <a:r>
              <a:rPr dirty="0"/>
              <a:t/>
            </a:r>
            <a:br>
              <a:rPr dirty="0"/>
            </a:br>
            <a:r>
              <a:rPr dirty="0" smtClean="0"/>
              <a:t>(</a:t>
            </a:r>
            <a:r>
              <a:rPr lang="en-IN" dirty="0" smtClean="0"/>
              <a:t>Multiple Models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50+ commands</a:t>
            </a:r>
            <a:r>
              <a:rPr dirty="0"/>
              <a:t/>
            </a:r>
            <a:br>
              <a:rPr dirty="0"/>
            </a:br>
            <a:r>
              <a:rPr dirty="0"/>
              <a:t>Extended telephony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66160" cy="2103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41732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lang="en-IN" dirty="0" smtClean="0"/>
              <a:t>Gen12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183880" y="219456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 smtClean="0"/>
              <a:t>Gen12</a:t>
            </a:r>
            <a:r>
              <a:rPr dirty="0" smtClean="0"/>
              <a:t>-specific commands</a:t>
            </a:r>
            <a:endParaRPr lang="en-IN" dirty="0" smtClean="0"/>
          </a:p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50+ commands</a:t>
            </a:r>
            <a:r>
              <a:rPr dirty="0"/>
              <a:t/>
            </a:r>
            <a:br>
              <a:rPr dirty="0"/>
            </a:br>
            <a:r>
              <a:rPr dirty="0"/>
              <a:t>Custom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3566160" cy="210312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5B4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86199"/>
            <a:ext cx="3291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dirty="0" smtClean="0"/>
              <a:t>JLR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(VCM, TCUA)</a:t>
            </a:r>
            <a:br>
              <a:rPr lang="en-IN" dirty="0" smtClean="0"/>
            </a:b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39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dirty="0" smtClean="0"/>
              <a:t>JLR </a:t>
            </a:r>
            <a:r>
              <a:rPr dirty="0"/>
              <a:t>platform</a:t>
            </a:r>
            <a:br>
              <a:rPr dirty="0"/>
            </a:br>
            <a:r>
              <a:rPr dirty="0"/>
              <a:t>Full command </a:t>
            </a:r>
            <a:r>
              <a:rPr dirty="0" smtClean="0"/>
              <a:t>set</a:t>
            </a:r>
            <a:endParaRPr lang="en-IN" dirty="0" smtClean="0"/>
          </a:p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50+ commands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4206240" y="3749039"/>
            <a:ext cx="3566160" cy="210312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1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886199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dirty="0"/>
              <a:t>BMW</a:t>
            </a:r>
            <a:br>
              <a:rPr dirty="0"/>
            </a:br>
            <a:r>
              <a:rPr dirty="0"/>
              <a:t>(WAVE </a:t>
            </a:r>
            <a:r>
              <a:rPr dirty="0" smtClean="0"/>
              <a:t>LOW</a:t>
            </a:r>
            <a:r>
              <a:rPr lang="en-IN" dirty="0" smtClean="0"/>
              <a:t>/HIGH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343400" y="4663439"/>
            <a:ext cx="3291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Dual SIM </a:t>
            </a:r>
            <a:r>
              <a:rPr lang="en-IN" dirty="0" smtClean="0"/>
              <a:t>BMW</a:t>
            </a:r>
          </a:p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50+ commands</a:t>
            </a:r>
            <a:endParaRPr lang="en-IN" dirty="0" smtClean="0"/>
          </a:p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dirty="0" smtClean="0"/>
              <a:t>Path</a:t>
            </a:r>
            <a:r>
              <a:rPr dirty="0"/>
              <a:t>: /</a:t>
            </a:r>
            <a:r>
              <a:rPr dirty="0" err="1"/>
              <a:t>usr</a:t>
            </a:r>
            <a:r>
              <a:rPr dirty="0"/>
              <a:t>/bin/factory/</a:t>
            </a:r>
            <a:r>
              <a:rPr dirty="0" err="1"/>
              <a:t>sldd</a:t>
            </a:r>
            <a:r>
              <a:rPr dirty="0"/>
              <a:t/>
            </a:r>
            <a:br>
              <a:rPr dirty="0"/>
            </a:br>
            <a:r>
              <a:rPr lang="en-IN" dirty="0"/>
              <a:t>Auto-detected via SW </a:t>
            </a:r>
            <a:r>
              <a:rPr lang="en-IN" dirty="0" err="1"/>
              <a:t>ver</a:t>
            </a:r>
            <a:endParaRPr lang="en-IN" dirty="0"/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566160" cy="2103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3886199"/>
            <a:ext cx="3291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5E"/>
                </a:solidFill>
                <a:latin typeface="Segoe UI"/>
              </a:defRPr>
            </a:pPr>
            <a:r>
              <a:rPr dirty="0"/>
              <a:t>BMW</a:t>
            </a:r>
            <a:br>
              <a:rPr dirty="0"/>
            </a:br>
            <a:r>
              <a:rPr dirty="0" smtClean="0"/>
              <a:t>(</a:t>
            </a:r>
            <a:r>
              <a:rPr lang="en-IN" dirty="0" smtClean="0"/>
              <a:t>ICONICC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39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/>
              <a:t>Standard </a:t>
            </a:r>
            <a:r>
              <a:rPr lang="en-IN" dirty="0" err="1"/>
              <a:t>sldd</a:t>
            </a:r>
            <a:r>
              <a:rPr lang="en-IN" dirty="0"/>
              <a:t> path</a:t>
            </a:r>
            <a:endParaRPr lang="en-IN" dirty="0" smtClean="0"/>
          </a:p>
          <a:p>
            <a:pPr>
              <a:defRPr sz="1200" b="0">
                <a:solidFill>
                  <a:srgbClr val="666688"/>
                </a:solidFill>
                <a:latin typeface="Segoe UI"/>
              </a:defRPr>
            </a:pPr>
            <a:r>
              <a:rPr lang="en-IN" dirty="0" smtClean="0"/>
              <a:t>50</a:t>
            </a:r>
            <a:r>
              <a:rPr lang="en-IN" dirty="0"/>
              <a:t>+ commands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365760" y="5943600"/>
            <a:ext cx="11430000" cy="7315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A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A8F4F"/>
                </a:solidFill>
                <a:latin typeface="Segoe UI"/>
              </a:defRPr>
            </a:pPr>
            <a:r>
              <a:t>AUTO-DETECTION:  Server reads 'cat etc/version'  -&gt;  If output contains 'WAVE'  -&gt;  auto-switches to BMW model</a:t>
            </a:r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Also uses sticky version cache: if version read fails temporarily, the model doesn't flip back. Smooth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AUTOMATED REGRESSION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5E"/>
                </a:solidFill>
                <a:latin typeface="Segoe UI"/>
              </a:defRPr>
            </a:pPr>
            <a:r>
              <a:t>Regression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Configure test sequences — drag &amp; drop command ordering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Set iteration count (1 to 1000+ cycles)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Per-step configurable delay (e.g., 5s between commands)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Custom parameters for Dial / SMS steps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Pause / Resume mid-regression without losing progress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Stop at any time — results preserved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Live progress bar with current iteration / total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Real-time PASS / FAIL count on screen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Module-based quick selection (add all SIM, Network, Call commands)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A8F4F"/>
                </a:solidFill>
                <a:latin typeface="Segoe UI"/>
              </a:rPr>
              <a:t>●  </a:t>
            </a:r>
            <a:r>
              <a:rPr sz="1300">
                <a:solidFill>
                  <a:srgbClr val="333344"/>
                </a:solidFill>
                <a:latin typeface="Segoe UI"/>
              </a:rPr>
              <a:t>Detailed timestamped log for every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5778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5E"/>
                </a:solidFill>
                <a:latin typeface="Segoe UI"/>
              </a:defRPr>
            </a:pPr>
            <a:r>
              <a:t>CSV Export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33344"/>
                </a:solidFill>
                <a:latin typeface="Segoe UI"/>
              </a:defRPr>
            </a:pPr>
            <a:r>
              <a:t>One-click export generates a CSV with:</a:t>
            </a:r>
          </a:p>
          <a:p>
            <a:pPr>
              <a:spcAft>
                <a:spcPts val="600"/>
              </a:spcAft>
              <a:defRPr sz="600" b="0">
                <a:solidFill>
                  <a:srgbClr val="666688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 b="0">
                <a:solidFill>
                  <a:srgbClr val="0096C7"/>
                </a:solidFill>
                <a:latin typeface="Segoe UI"/>
              </a:defRPr>
            </a:pPr>
            <a:r>
              <a:t>Iteration #  |  Step #  |  Timestamp</a:t>
            </a:r>
          </a:p>
          <a:p>
            <a:pPr>
              <a:spcAft>
                <a:spcPts val="600"/>
              </a:spcAft>
              <a:defRPr sz="1200" b="0">
                <a:solidFill>
                  <a:srgbClr val="0096C7"/>
                </a:solidFill>
                <a:latin typeface="Segoe UI"/>
              </a:defRPr>
            </a:pPr>
            <a:r>
              <a:t>Command Name  |  Command ID</a:t>
            </a:r>
          </a:p>
          <a:p>
            <a:pPr>
              <a:spcAft>
                <a:spcPts val="600"/>
              </a:spcAft>
              <a:defRPr sz="1200" b="0">
                <a:solidFill>
                  <a:srgbClr val="0096C7"/>
                </a:solidFill>
                <a:latin typeface="Segoe UI"/>
              </a:defRPr>
            </a:pPr>
            <a:r>
              <a:t>Full Output  |  PASS / FAIL Status</a:t>
            </a:r>
          </a:p>
          <a:p>
            <a:pPr>
              <a:spcAft>
                <a:spcPts val="600"/>
              </a:spcAft>
              <a:defRPr sz="600" b="0">
                <a:solidFill>
                  <a:srgbClr val="666688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100" b="0">
                <a:solidFill>
                  <a:srgbClr val="666688"/>
                </a:solidFill>
                <a:latin typeface="Segoe UI"/>
              </a:defRPr>
            </a:pPr>
            <a:r>
              <a:t>File: regression_report_{model}_{timestamp}.csv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5E"/>
                </a:solidFill>
                <a:latin typeface="Segoe UI"/>
              </a:defRPr>
            </a:pPr>
            <a:r>
              <a:t>Smart PASS/FAIL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33344"/>
                </a:solidFill>
                <a:latin typeface="Segoe UI"/>
              </a:defRPr>
            </a:pPr>
            <a:r>
              <a:t>Commands are auto-validated using regex patterns:</a:t>
            </a:r>
          </a:p>
          <a:p>
            <a:pPr>
              <a:spcAft>
                <a:spcPts val="600"/>
              </a:spcAft>
              <a:defRPr sz="600" b="0">
                <a:solidFill>
                  <a:srgbClr val="666688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 b="0">
                <a:solidFill>
                  <a:srgbClr val="B88600"/>
                </a:solidFill>
                <a:latin typeface="Segoe UI"/>
              </a:defRPr>
            </a:pPr>
            <a:r>
              <a:t>SIM State  -&gt;  expects numeric state value</a:t>
            </a:r>
          </a:p>
          <a:p>
            <a:pPr>
              <a:spcAft>
                <a:spcPts val="600"/>
              </a:spcAft>
              <a:defRPr sz="1200" b="0">
                <a:solidFill>
                  <a:srgbClr val="B88600"/>
                </a:solidFill>
                <a:latin typeface="Segoe UI"/>
              </a:defRPr>
            </a:pPr>
            <a:r>
              <a:t>Network Type  -&gt;  accepts ANY numeric type (not hardcoded)</a:t>
            </a:r>
          </a:p>
          <a:p>
            <a:pPr>
              <a:spcAft>
                <a:spcPts val="600"/>
              </a:spcAft>
              <a:defRPr sz="1200" b="0">
                <a:solidFill>
                  <a:srgbClr val="B88600"/>
                </a:solidFill>
                <a:latin typeface="Segoe UI"/>
              </a:defRPr>
            </a:pPr>
            <a:r>
              <a:t>EID  -&gt;  passes even if empty (eUICC optional)</a:t>
            </a:r>
          </a:p>
          <a:p>
            <a:pPr>
              <a:spcAft>
                <a:spcPts val="600"/>
              </a:spcAft>
              <a:defRPr sz="1200" b="0">
                <a:solidFill>
                  <a:srgbClr val="B88600"/>
                </a:solidFill>
                <a:latin typeface="Segoe UI"/>
              </a:defRPr>
            </a:pPr>
            <a:r>
              <a:t>Radio State  -&gt;  supports both Toyota &amp; BMW formats</a:t>
            </a:r>
          </a:p>
          <a:p>
            <a:pPr>
              <a:spcAft>
                <a:spcPts val="600"/>
              </a:spcAft>
              <a:defRPr sz="1200" b="0">
                <a:solidFill>
                  <a:srgbClr val="B88600"/>
                </a:solidFill>
                <a:latin typeface="Segoe UI"/>
              </a:defRPr>
            </a:pPr>
            <a:r>
              <a:t>Custom patterns per command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5E"/>
                </a:solidFill>
                <a:latin typeface="Segoe UI"/>
              </a:defRPr>
            </a:pPr>
            <a:r>
              <a:t>DEPLOYMENT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828800" cy="36576"/>
          </a:xfrm>
          <a:prstGeom prst="roundRect">
            <a:avLst/>
          </a:prstGeom>
          <a:solidFill>
            <a:srgbClr val="5B4CDB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5E"/>
                </a:solidFill>
                <a:latin typeface="Segoe UI"/>
              </a:defRPr>
            </a:pPr>
            <a:r>
              <a:t>How to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1.  Copy TelephonyManager.exe to setup PC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2.  Connect device via USB (or ADB over TCP/IP)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3.  Double-click TelephonyManager.exe to start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4.  Open browser: http://localhost:3000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5.  Share IP with team: http://&lt;PC-IP&gt;:3000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A8F4F"/>
                </a:solidFill>
                <a:latin typeface="Segoe UI"/>
              </a:rPr>
              <a:t>●  </a:t>
            </a:r>
            <a:r>
              <a:rPr sz="1400">
                <a:solidFill>
                  <a:srgbClr val="333344"/>
                </a:solidFill>
                <a:latin typeface="Segoe UI"/>
              </a:rPr>
              <a:t>6.  Each user opens their own tab — done!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5486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2D5E"/>
                </a:solidFill>
                <a:latin typeface="Segoe UI"/>
              </a:defRPr>
            </a:pPr>
            <a:r>
              <a:rPr dirty="0" smtClean="0"/>
              <a:t>Remote PC</a:t>
            </a:r>
            <a:r>
              <a:rPr lang="en-IN" dirty="0" smtClean="0"/>
              <a:t> v/s Our Web-App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88"/>
                </a:solidFill>
                <a:latin typeface="Segoe UI"/>
              </a:defRPr>
            </a:pPr>
            <a:r>
              <a:t>Setup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F4F"/>
                </a:solidFill>
                <a:latin typeface="Segoe UI"/>
              </a:defRPr>
            </a:pPr>
            <a:r>
              <a:t>30+ min  -&gt;  10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88"/>
                </a:solidFill>
                <a:latin typeface="Segoe UI"/>
              </a:defRPr>
            </a:pPr>
            <a:r>
              <a:t>Concurrent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166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F4F"/>
                </a:solidFill>
                <a:latin typeface="Segoe UI"/>
              </a:defRPr>
            </a:pPr>
            <a:r>
              <a:t>1 (single session)  -&gt;  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88"/>
                </a:solidFill>
                <a:latin typeface="Segoe UI"/>
              </a:defRPr>
            </a:pPr>
            <a:r>
              <a:t>Bandwidth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F4F"/>
                </a:solidFill>
                <a:latin typeface="Segoe UI"/>
              </a:defRPr>
            </a:pPr>
            <a:r>
              <a:t>High (screen streaming)  -&gt;  Minimal (JSON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88"/>
                </a:solidFill>
                <a:latin typeface="Segoe UI"/>
              </a:defRPr>
            </a:pPr>
            <a:r>
              <a:t>Regression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F4F"/>
                </a:solidFill>
                <a:latin typeface="Segoe UI"/>
              </a:defRPr>
            </a:pPr>
            <a:r>
              <a:t>Fully manual  -&gt;  Fully automated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88"/>
                </a:solidFill>
                <a:latin typeface="Segoe UI"/>
              </a:defRPr>
            </a:pPr>
            <a:r>
              <a:t>DLT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8F4F"/>
                </a:solidFill>
                <a:latin typeface="Segoe UI"/>
              </a:defRPr>
            </a:pPr>
            <a:r>
              <a:t>Manual per-PC config  -&gt;  Auto per-user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5577840" cy="5303520"/>
          </a:xfrm>
          <a:prstGeom prst="roundRect">
            <a:avLst/>
          </a:prstGeom>
          <a:solidFill>
            <a:srgbClr val="5B4CDB"/>
          </a:solidFill>
          <a:ln w="19050">
            <a:solidFill>
              <a:srgbClr val="5B4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286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FF"/>
                </a:solidFill>
                <a:latin typeface="Segoe UI"/>
              </a:defRPr>
            </a:pPr>
            <a:r>
              <a:t>Questions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484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CCCEE"/>
                </a:solidFill>
                <a:latin typeface="Segoe UI"/>
              </a:defRPr>
            </a:pPr>
            <a:r>
              <a:rPr dirty="0"/>
              <a:t>Developed by: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Nitish</a:t>
            </a:r>
            <a:r>
              <a:rPr dirty="0"/>
              <a:t> Kumar</a:t>
            </a:r>
          </a:p>
          <a:p>
            <a:pPr>
              <a:spcAft>
                <a:spcPts val="600"/>
              </a:spcAft>
              <a:defRPr sz="1300" b="0">
                <a:solidFill>
                  <a:srgbClr val="CCCCEE"/>
                </a:solidFill>
                <a:latin typeface="Segoe UI"/>
              </a:defRPr>
            </a:pPr>
            <a:r>
              <a:rPr dirty="0"/>
              <a:t>Connected Service Unit  |  LG Electronics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200" b="0">
                <a:solidFill>
                  <a:srgbClr val="CCDDFF"/>
                </a:solidFill>
                <a:latin typeface="Segoe UI"/>
              </a:defRPr>
            </a:pPr>
            <a:r>
              <a:rPr dirty="0"/>
              <a:t>nitish10.kumar@lge.com</a:t>
            </a:r>
          </a:p>
          <a:p>
            <a:pPr>
              <a:spcAft>
                <a:spcPts val="600"/>
              </a:spcAft>
              <a:defRPr sz="1200" b="0">
                <a:solidFill>
                  <a:srgbClr val="CCDDFF"/>
                </a:solidFill>
                <a:latin typeface="Segoe UI"/>
              </a:defRPr>
            </a:pPr>
            <a:r>
              <a:rPr dirty="0"/>
              <a:t>http</a:t>
            </a:r>
            <a:r>
              <a:rPr dirty="0" smtClean="0"/>
              <a:t>://</a:t>
            </a:r>
            <a:r>
              <a:rPr lang="en-IN" dirty="0" smtClean="0"/>
              <a:t>si-nitishk</a:t>
            </a:r>
            <a:r>
              <a:rPr dirty="0" smtClean="0"/>
              <a:t>:3000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1247</Words>
  <Application>Microsoft Office PowerPoint</Application>
  <PresentationFormat>Custom</PresentationFormat>
  <Paragraphs>250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nitish10.kumar</cp:lastModifiedBy>
  <cp:revision>17</cp:revision>
  <dcterms:created xsi:type="dcterms:W3CDTF">2013-01-27T09:14:16Z</dcterms:created>
  <dcterms:modified xsi:type="dcterms:W3CDTF">2026-02-12T09:17:22Z</dcterms:modified>
  <cp:category/>
</cp:coreProperties>
</file>